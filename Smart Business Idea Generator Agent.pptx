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7"/>
  </p:notesMasterIdLst>
  <p:sldIdLst>
    <p:sldId id="283" r:id="rId2"/>
    <p:sldId id="257" r:id="rId3"/>
    <p:sldId id="282" r:id="rId4"/>
    <p:sldId id="284" r:id="rId5"/>
    <p:sldId id="285" r:id="rId6"/>
    <p:sldId id="281" r:id="rId7"/>
    <p:sldId id="279" r:id="rId8"/>
    <p:sldId id="262" r:id="rId9"/>
    <p:sldId id="264" r:id="rId10"/>
    <p:sldId id="278" r:id="rId11"/>
    <p:sldId id="277" r:id="rId12"/>
    <p:sldId id="286" r:id="rId13"/>
    <p:sldId id="287" r:id="rId14"/>
    <p:sldId id="280" r:id="rId15"/>
    <p:sldId id="276"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5591CF7-6E22-14BF-DB99-3894772A19DF}" v="65" dt="2026-04-21T05:09:31.452"/>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86"/>
  </p:normalViewPr>
  <p:slideViewPr>
    <p:cSldViewPr snapToGrid="0">
      <p:cViewPr varScale="1">
        <p:scale>
          <a:sx n="74" d="100"/>
          <a:sy n="74" d="100"/>
        </p:scale>
        <p:origin x="1013"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6827365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9651753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0575871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0520786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6221693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txBody>
          <a:bodyPr/>
          <a:lstStyle/>
          <a:p>
            <a:endParaRPr lang="en-IN"/>
          </a:p>
        </p:txBody>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LangFlow”</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676465330"/>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IN" dirty="0"/>
                        <a:t>Shashank</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shashankjacknalli502@gmail.com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7019352502</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22206" y="1460724"/>
            <a:ext cx="10280254" cy="461665"/>
          </a:xfrm>
          <a:prstGeom prst="rect">
            <a:avLst/>
          </a:prstGeom>
          <a:noFill/>
        </p:spPr>
        <p:txBody>
          <a:bodyPr wrap="square" rtlCol="0">
            <a:spAutoFit/>
          </a:bodyPr>
          <a:lstStyle/>
          <a:p>
            <a:r>
              <a:rPr lang="en-US" sz="2400" b="1" dirty="0"/>
              <a:t>Domain of  Project – Business</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830997"/>
          </a:xfrm>
          <a:prstGeom prst="rect">
            <a:avLst/>
          </a:prstGeom>
          <a:noFill/>
        </p:spPr>
        <p:txBody>
          <a:bodyPr wrap="square" rtlCol="0">
            <a:spAutoFit/>
          </a:bodyPr>
          <a:lstStyle/>
          <a:p>
            <a:r>
              <a:rPr lang="en-US" sz="2400" b="1" dirty="0"/>
              <a:t>Project Tile – </a:t>
            </a:r>
            <a:r>
              <a:rPr lang="en-US" sz="2400" dirty="0"/>
              <a:t>Smart Business Idea Generator Agent</a:t>
            </a:r>
          </a:p>
          <a:p>
            <a:endParaRPr lang="en-IN" sz="2400" b="1" dirty="0">
              <a:highlight>
                <a:srgbClr val="FFFF00"/>
              </a:highlight>
            </a:endParaRPr>
          </a:p>
        </p:txBody>
      </p:sp>
      <p:pic>
        <p:nvPicPr>
          <p:cNvPr id="3" name="Picture 2">
            <a:extLst>
              <a:ext uri="{FF2B5EF4-FFF2-40B4-BE49-F238E27FC236}">
                <a16:creationId xmlns:a16="http://schemas.microsoft.com/office/drawing/2014/main" id="{8B216659-0603-CB14-905C-D10DE4467892}"/>
              </a:ext>
            </a:extLst>
          </p:cNvPr>
          <p:cNvPicPr>
            <a:picLocks noChangeAspect="1"/>
          </p:cNvPicPr>
          <p:nvPr/>
        </p:nvPicPr>
        <p:blipFill>
          <a:blip r:embed="rId3"/>
          <a:stretch>
            <a:fillRect/>
          </a:stretch>
        </p:blipFill>
        <p:spPr>
          <a:xfrm>
            <a:off x="3550842" y="3536114"/>
            <a:ext cx="2128063" cy="123132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4832092"/>
          </a:xfrm>
          <a:prstGeom prst="rect">
            <a:avLst/>
          </a:prstGeom>
          <a:noFill/>
        </p:spPr>
        <p:txBody>
          <a:bodyPr wrap="square" rtlCol="0">
            <a:spAutoFit/>
          </a:bodyPr>
          <a:lstStyle/>
          <a:p>
            <a:pPr fontAlgn="base"/>
            <a:r>
              <a:rPr lang="en-US" b="1" dirty="0"/>
              <a:t>Problem Statement : </a:t>
            </a:r>
            <a:r>
              <a:rPr lang="en-US" dirty="0"/>
              <a:t>Smart Business Idea Generator Agent</a:t>
            </a:r>
          </a:p>
          <a:p>
            <a:pPr fontAlgn="base"/>
            <a:endParaRPr lang="en-US" b="1" dirty="0"/>
          </a:p>
          <a:p>
            <a:pPr fontAlgn="base"/>
            <a:r>
              <a:rPr lang="en-US" b="1" dirty="0"/>
              <a:t>The Challenge</a:t>
            </a:r>
            <a:r>
              <a:rPr lang="en-US" dirty="0"/>
              <a:t> </a:t>
            </a:r>
          </a:p>
          <a:p>
            <a:pPr fontAlgn="base"/>
            <a:r>
              <a:rPr lang="en-US" dirty="0"/>
              <a:t>In the digital era, innovation is crucial, but individuals, students, researchers, and organizations</a:t>
            </a:r>
          </a:p>
          <a:p>
            <a:pPr fontAlgn="base"/>
            <a:r>
              <a:rPr lang="en-US" dirty="0"/>
              <a:t>often struggle with idea generation. Brainstorming sessions are unstructured, inspiration is</a:t>
            </a:r>
          </a:p>
          <a:p>
            <a:pPr fontAlgn="base"/>
            <a:r>
              <a:rPr lang="en-US" dirty="0"/>
              <a:t>scattered across articles, videos, and social media, and existing tools focus on text-only prompts</a:t>
            </a:r>
          </a:p>
          <a:p>
            <a:pPr fontAlgn="base"/>
            <a:r>
              <a:rPr lang="en-US" dirty="0"/>
              <a:t>without context-awareness. The challenge is not just to suggest random ideas but to synthesize</a:t>
            </a:r>
          </a:p>
          <a:p>
            <a:pPr fontAlgn="base"/>
            <a:r>
              <a:rPr lang="en-US" dirty="0"/>
              <a:t>creativity, context, and relevance into intelligent, actionable ideas for diverse domains such as</a:t>
            </a:r>
          </a:p>
          <a:p>
            <a:pPr fontAlgn="base"/>
            <a:r>
              <a:rPr lang="en-US" dirty="0"/>
              <a:t>startups, research, content creation, or product development.</a:t>
            </a:r>
          </a:p>
          <a:p>
            <a:pPr fontAlgn="base"/>
            <a:r>
              <a:rPr lang="en-US" b="1" dirty="0"/>
              <a:t>The Objective</a:t>
            </a:r>
            <a:r>
              <a:rPr lang="en-US" dirty="0"/>
              <a:t> </a:t>
            </a:r>
          </a:p>
          <a:p>
            <a:pPr fontAlgn="base"/>
            <a:r>
              <a:rPr lang="en-US" dirty="0"/>
              <a:t>Build an agentic AI Smart Idea Generator that empowers users with contextual, innovative, and multimodal ideation. The solution should: </a:t>
            </a:r>
          </a:p>
          <a:p>
            <a:pPr marL="342900" indent="-342900" fontAlgn="base">
              <a:buAutoNum type="arabicPeriod"/>
            </a:pPr>
            <a:r>
              <a:rPr lang="en-US" dirty="0"/>
              <a:t>Fuse Knowledge Sources: Pull insights from articles, research papers, trend analysis, and social platforms to generate contextual and current ideas. </a:t>
            </a:r>
          </a:p>
          <a:p>
            <a:pPr fontAlgn="base"/>
            <a:r>
              <a:rPr lang="en-US" dirty="0"/>
              <a:t>2.    Enable Multimodal Brainstorming: Accept inputs like text prompts, images (e.g., product sketches), or voice notes and refine them into structured, creative suggestions.</a:t>
            </a:r>
          </a:p>
          <a:p>
            <a:pPr fontAlgn="base"/>
            <a:r>
              <a:rPr lang="en-US" dirty="0"/>
              <a:t>3.   Create a Predictive &amp; Agentic Layer: Identify trending domains (e.g., AI in healthcare, sustainable energy), forecast idea relevance, and recommend high-impact directions.</a:t>
            </a:r>
          </a:p>
          <a:p>
            <a:pPr fontAlgn="base"/>
            <a:r>
              <a:rPr lang="en-US" dirty="0"/>
              <a:t>4.   Visualize Idea Maps: Provide an interactive dashboard that organizes ideas into categories, impact scores, and feasibility maps, helping users explore and refine concepts quickly. </a:t>
            </a:r>
          </a:p>
          <a:p>
            <a:pPr fontAlgn="base"/>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CFCB91-EF22-EB8C-5B0D-4D46021F0245}"/>
              </a:ext>
            </a:extLst>
          </p:cNvPr>
          <p:cNvSpPr txBox="1"/>
          <p:nvPr/>
        </p:nvSpPr>
        <p:spPr>
          <a:xfrm>
            <a:off x="667512" y="1165753"/>
            <a:ext cx="10607040" cy="2031325"/>
          </a:xfrm>
          <a:prstGeom prst="rect">
            <a:avLst/>
          </a:prstGeom>
          <a:noFill/>
        </p:spPr>
        <p:txBody>
          <a:bodyPr wrap="square" rtlCol="0">
            <a:spAutoFit/>
          </a:bodyPr>
          <a:lstStyle/>
          <a:p>
            <a:pPr fontAlgn="base"/>
            <a:endParaRPr lang="en-US" b="1" dirty="0"/>
          </a:p>
          <a:p>
            <a:pPr fontAlgn="base"/>
            <a:r>
              <a:rPr lang="en-IN" b="1" dirty="0"/>
              <a:t>Tech Stack :</a:t>
            </a:r>
            <a:r>
              <a:rPr lang="en-IN" dirty="0"/>
              <a:t> </a:t>
            </a:r>
          </a:p>
          <a:p>
            <a:pPr fontAlgn="base"/>
            <a:endParaRPr lang="en-IN" dirty="0"/>
          </a:p>
          <a:p>
            <a:pPr fontAlgn="base"/>
            <a:r>
              <a:rPr lang="en-IN" dirty="0"/>
              <a:t>I used </a:t>
            </a:r>
            <a:r>
              <a:rPr lang="en-IN" dirty="0">
                <a:highlight>
                  <a:srgbClr val="FFFF00"/>
                </a:highlight>
              </a:rPr>
              <a:t>LangFlow + IBM watsonx.ai + Granite Models </a:t>
            </a:r>
          </a:p>
          <a:p>
            <a:pPr fontAlgn="base"/>
            <a:endParaRPr lang="en-IN" dirty="0"/>
          </a:p>
          <a:p>
            <a:pPr marL="285750" indent="-285750" fontAlgn="base">
              <a:buFont typeface="Arial" panose="020B0604020202020204" pitchFamily="34" charset="0"/>
              <a:buChar char="•"/>
            </a:pPr>
            <a:endParaRPr lang="en-IN" dirty="0"/>
          </a:p>
          <a:p>
            <a:pPr fontAlgn="base"/>
            <a:endParaRPr lang="en-IN" dirty="0"/>
          </a:p>
          <a:p>
            <a:pPr fontAlgn="base"/>
            <a:endParaRPr lang="en-US" dirty="0"/>
          </a:p>
          <a:p>
            <a:endParaRPr lang="en-IN" dirty="0"/>
          </a:p>
        </p:txBody>
      </p:sp>
      <p:sp>
        <p:nvSpPr>
          <p:cNvPr id="3" name="TextBox 2">
            <a:extLst>
              <a:ext uri="{FF2B5EF4-FFF2-40B4-BE49-F238E27FC236}">
                <a16:creationId xmlns:a16="http://schemas.microsoft.com/office/drawing/2014/main" id="{FBD926A1-0833-2949-651F-2AAB4D91A8C9}"/>
              </a:ext>
            </a:extLst>
          </p:cNvPr>
          <p:cNvSpPr txBox="1"/>
          <p:nvPr/>
        </p:nvSpPr>
        <p:spPr>
          <a:xfrm>
            <a:off x="576072" y="704088"/>
            <a:ext cx="7214616" cy="461665"/>
          </a:xfrm>
          <a:prstGeom prst="rect">
            <a:avLst/>
          </a:prstGeom>
          <a:noFill/>
        </p:spPr>
        <p:txBody>
          <a:bodyPr wrap="square" rtlCol="0">
            <a:spAutoFit/>
          </a:bodyPr>
          <a:lstStyle/>
          <a:p>
            <a:r>
              <a:rPr lang="en-US" sz="2400" b="1" dirty="0"/>
              <a:t>Technology Used </a:t>
            </a:r>
            <a:endParaRPr lang="en-IN" sz="2400" b="1" dirty="0"/>
          </a:p>
        </p:txBody>
      </p:sp>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3785652"/>
          </a:xfrm>
          <a:prstGeom prst="rect">
            <a:avLst/>
          </a:prstGeom>
          <a:noFill/>
        </p:spPr>
        <p:txBody>
          <a:bodyPr wrap="square" rtlCol="0">
            <a:spAutoFit/>
          </a:bodyPr>
          <a:lstStyle/>
          <a:p>
            <a:r>
              <a:rPr lang="en-US" sz="1600" dirty="0"/>
              <a:t>The Smart Business Idea Generator Agent is an intelligent AI-based system developed to help users discover innovative and profitable business ideas based on their interests, skills, budget, and market demand. Many people want to start their own business but struggle to select the right idea due to lack of guidance, market knowledge, or experience. The proposed system acts as a smart virtual assistant that analyzes user inputs such as educational background, hobbies, investment capacity, preferred business field, target customers, and location.</a:t>
            </a:r>
          </a:p>
          <a:p>
            <a:r>
              <a:rPr lang="en-US" sz="1600" dirty="0"/>
              <a:t>Using Artificial Intelligence, Natural Language Processing (NLP), and Machine Learning algorithms, the system processes this information and generates personalized business ideas that match the user’s profile and current market trends.</a:t>
            </a:r>
          </a:p>
          <a:p>
            <a:r>
              <a:rPr lang="en-US" sz="1600" dirty="0"/>
              <a:t>The system also performs market trend analysis by studying online business trends, customer preferences, and emerging industries to provide modern and profitable startup suggestions. Along with business idea generation, the agent offers additional information such as estimated startup cost, required resources, risk analysis, expected profit, marketing strategies, and future growth opportunities. The architecture of the system includes modules like user input processing, idea recommendation engine, market analysis module, and business report generation module. The recommendation engine uses machine learning techniques to compare user data with successful business patterns and provide accurate suggestions.</a:t>
            </a:r>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component Used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4401205"/>
          </a:xfrm>
          <a:prstGeom prst="rect">
            <a:avLst/>
          </a:prstGeom>
          <a:noFill/>
        </p:spPr>
        <p:txBody>
          <a:bodyPr wrap="square" rtlCol="0">
            <a:spAutoFit/>
          </a:bodyPr>
          <a:lstStyle/>
          <a:p>
            <a:endParaRPr lang="en-US" dirty="0"/>
          </a:p>
          <a:p>
            <a:r>
              <a:rPr lang="en-US" b="1" dirty="0"/>
              <a:t>1) Chat Input </a:t>
            </a:r>
            <a:r>
              <a:rPr lang="en-US" dirty="0"/>
              <a:t>– Interface where users enter their queries, preferences, or meal details (text/voice/image).</a:t>
            </a:r>
          </a:p>
          <a:p>
            <a:endParaRPr lang="en-US" dirty="0"/>
          </a:p>
          <a:p>
            <a:r>
              <a:rPr lang="en-US" b="1" dirty="0"/>
              <a:t>2) IBM watsonx AI Agent </a:t>
            </a:r>
            <a:r>
              <a:rPr lang="en-US" dirty="0"/>
              <a:t>- Processes user input using Granite models to generate personalized nutrition insights and recommendations. </a:t>
            </a:r>
          </a:p>
          <a:p>
            <a:endParaRPr lang="en-US" dirty="0"/>
          </a:p>
          <a:p>
            <a:r>
              <a:rPr lang="en-US" b="1" dirty="0"/>
              <a:t>3) Name of IBM Granite model - </a:t>
            </a:r>
            <a:r>
              <a:rPr lang="en-US" dirty="0"/>
              <a:t>Granite-4.0-8B-Instruct → Fast, efficient for real-time diet recommendations</a:t>
            </a:r>
          </a:p>
          <a:p>
            <a:endParaRPr lang="en-US" dirty="0"/>
          </a:p>
          <a:p>
            <a:r>
              <a:rPr lang="en-US" b="1" dirty="0"/>
              <a:t>4) Chat output -</a:t>
            </a:r>
            <a:r>
              <a:rPr lang="en-US" dirty="0"/>
              <a:t>Displays AI-generated responses such as diet plans, nutritional analysis, and health suggestions. </a:t>
            </a:r>
          </a:p>
          <a:p>
            <a:endParaRPr lang="en-US" dirty="0"/>
          </a:p>
          <a:p>
            <a:endParaRPr lang="en-US" dirty="0">
              <a:highlight>
                <a:srgbClr val="FFFF00"/>
              </a:highlight>
            </a:endParaRPr>
          </a:p>
          <a:p>
            <a:pPr marL="342900" indent="-342900">
              <a:buAutoNum type="arabicParenR" startAt="3"/>
            </a:pPr>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workflow -</a:t>
            </a:r>
            <a:endParaRPr sz="2400" b="1" dirty="0">
              <a:sym typeface="Times New Roman"/>
            </a:endParaRPr>
          </a:p>
        </p:txBody>
      </p:sp>
      <p:pic>
        <p:nvPicPr>
          <p:cNvPr id="5" name="Picture 4">
            <a:extLst>
              <a:ext uri="{FF2B5EF4-FFF2-40B4-BE49-F238E27FC236}">
                <a16:creationId xmlns:a16="http://schemas.microsoft.com/office/drawing/2014/main" id="{E27A1AC6-15BD-3646-BE9F-41BD9D2FB1BC}"/>
              </a:ext>
            </a:extLst>
          </p:cNvPr>
          <p:cNvPicPr>
            <a:picLocks noChangeAspect="1"/>
          </p:cNvPicPr>
          <p:nvPr/>
        </p:nvPicPr>
        <p:blipFill>
          <a:blip r:embed="rId3"/>
          <a:stretch>
            <a:fillRect/>
          </a:stretch>
        </p:blipFill>
        <p:spPr>
          <a:xfrm>
            <a:off x="351624" y="900984"/>
            <a:ext cx="10683522" cy="5687249"/>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pic>
        <p:nvPicPr>
          <p:cNvPr id="178" name="Google Shape;178;p7"/>
          <p:cNvPicPr preferRelativeResize="0"/>
          <p:nvPr/>
        </p:nvPicPr>
        <p:blipFill rotWithShape="1">
          <a:blip r:embed="rId3">
            <a:alphaModFix/>
          </a:blip>
          <a:srcRect/>
          <a:stretch/>
        </p:blipFill>
        <p:spPr>
          <a:xfrm>
            <a:off x="699152" y="1071448"/>
            <a:ext cx="10429095" cy="5612816"/>
          </a:xfrm>
          <a:prstGeom prst="rect">
            <a:avLst/>
          </a:prstGeom>
          <a:noFill/>
          <a:ln>
            <a:noFill/>
          </a:ln>
        </p:spPr>
      </p:pic>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323987"/>
          </a:xfrm>
          <a:prstGeom prst="rect">
            <a:avLst/>
          </a:prstGeom>
          <a:noFill/>
        </p:spPr>
        <p:txBody>
          <a:bodyPr wrap="square" rtlCol="0">
            <a:spAutoFit/>
          </a:bodyPr>
          <a:lstStyle/>
          <a:p>
            <a:r>
              <a:rPr lang="en-US" b="1" dirty="0"/>
              <a:t>Role of Agentic AI in Nutrition Agent</a:t>
            </a:r>
          </a:p>
          <a:p>
            <a:r>
              <a:rPr lang="en-US" dirty="0"/>
              <a:t>Agentic AI plays an important role in the Smart Business Idea Generator Agent by acting as an intelligent decision-making system that can analyze user requirements, understand market trends, and generate personalized business ideas automatically. </a:t>
            </a:r>
          </a:p>
          <a:p>
            <a:r>
              <a:rPr lang="en-US" dirty="0"/>
              <a:t>It continuously processes user inputs such as skills, interests, budget, and business goals, then uses AI techniques to recommend suitable and profitable business opportunities. Agentic AI also helps in market analysis, risk prediction, startup planning, and providing smart suggestions, making the system more efficient, accurate, and user-friendly</a:t>
            </a:r>
          </a:p>
          <a:p>
            <a:r>
              <a:rPr lang="en-US" dirty="0"/>
              <a:t>n this solution, Agentic AI improves accuracy, saves time, reduces manual research, and supports better business decision-making. It creates a more interactive and user-friendly environment where users can easily explore innovative startup ideas and receive intelligent guidance for building successful businesses. By combining automation, learning capability, and decision-making intelligence, Agentic AI becomes the core technology that powers the entire Smart Business Idea Generator system.</a:t>
            </a:r>
          </a:p>
          <a:p>
            <a:r>
              <a:rPr lang="en-US" dirty="0"/>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4401205"/>
          </a:xfrm>
          <a:prstGeom prst="rect">
            <a:avLst/>
          </a:prstGeom>
          <a:noFill/>
        </p:spPr>
        <p:txBody>
          <a:bodyPr wrap="square" rtlCol="0">
            <a:spAutoFit/>
          </a:bodyPr>
          <a:lstStyle/>
          <a:p>
            <a:pPr marL="285750" indent="-285750">
              <a:buFont typeface="Arial" panose="020B0604020202020204" pitchFamily="34" charset="0"/>
              <a:buChar char="•"/>
            </a:pPr>
            <a:r>
              <a:rPr lang="en-US" sz="1800" b="1" dirty="0"/>
              <a:t>Langflow platform </a:t>
            </a:r>
            <a:r>
              <a:rPr lang="en-US" sz="1800" dirty="0"/>
              <a:t>-For designing and orchestrating multi-agent workflows visually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Grainte model </a:t>
            </a:r>
            <a:r>
              <a:rPr lang="en-US" sz="1800" dirty="0"/>
              <a:t>-  ibm-granite-4-h-small  – s used for generating intelligent business ideas and providing AI-based responses from user inputs.</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Nutrition Agent efficiently. IBM Cloud enables a </a:t>
            </a:r>
            <a:r>
              <a:rPr lang="en-US" sz="1800" b="1" dirty="0"/>
              <a:t>reliable, secure, and scalable environment</a:t>
            </a:r>
            <a:r>
              <a:rPr lang="en-US" sz="1800" dirty="0"/>
              <a:t> for deploying the Nutrition Agent.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Watsonx.ai - </a:t>
            </a:r>
            <a:r>
              <a:rPr lang="en-US" sz="1800" dirty="0"/>
              <a:t>For model deployment, embeddings, and AI governance</a:t>
            </a:r>
          </a:p>
          <a:p>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dirty="0">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11,761 token are used</a:t>
            </a:r>
          </a:p>
        </p:txBody>
      </p:sp>
      <p:pic>
        <p:nvPicPr>
          <p:cNvPr id="8" name="Picture 7">
            <a:extLst>
              <a:ext uri="{FF2B5EF4-FFF2-40B4-BE49-F238E27FC236}">
                <a16:creationId xmlns:a16="http://schemas.microsoft.com/office/drawing/2014/main" id="{40C8A42B-7121-C144-1F99-170565CE032B}"/>
              </a:ext>
            </a:extLst>
          </p:cNvPr>
          <p:cNvPicPr>
            <a:picLocks noChangeAspect="1"/>
          </p:cNvPicPr>
          <p:nvPr/>
        </p:nvPicPr>
        <p:blipFill>
          <a:blip r:embed="rId3"/>
          <a:stretch>
            <a:fillRect/>
          </a:stretch>
        </p:blipFill>
        <p:spPr>
          <a:xfrm>
            <a:off x="0" y="971823"/>
            <a:ext cx="12192000" cy="4914354"/>
          </a:xfrm>
          <a:prstGeom prst="rect">
            <a:avLst/>
          </a:prstGeom>
        </p:spPr>
      </p:pic>
    </p:spTree>
    <p:extLst>
      <p:ext uri="{BB962C8B-B14F-4D97-AF65-F5344CB8AC3E}">
        <p14:creationId xmlns:p14="http://schemas.microsoft.com/office/powerpoint/2010/main" val="21154848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330431" y="307986"/>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154063" y="769651"/>
            <a:ext cx="11301984" cy="5909310"/>
          </a:xfrm>
          <a:prstGeom prst="rect">
            <a:avLst/>
          </a:prstGeom>
          <a:noFill/>
        </p:spPr>
        <p:txBody>
          <a:bodyPr wrap="square" rtlCol="0">
            <a:spAutoFit/>
          </a:bodyPr>
          <a:lstStyle/>
          <a:p>
            <a:r>
              <a:rPr lang="en-US" sz="1800" dirty="0"/>
              <a:t>The proposed Smart Business Idea Generator Agent stands out by combining Agentic AI, intelligent recommendation systems, and market trend analysis into a single smart platform.</a:t>
            </a:r>
          </a:p>
          <a:p>
            <a:endParaRPr lang="en-US" sz="1800" dirty="0"/>
          </a:p>
          <a:p>
            <a:r>
              <a:rPr lang="en-US" sz="1800" b="1" dirty="0"/>
              <a:t>AI-Powered Business Recommendation</a:t>
            </a:r>
            <a:r>
              <a:rPr lang="en-US" sz="1800" dirty="0"/>
              <a:t> – Generates personalized business ideas based on user interests, skills, investment budget, and market demand. </a:t>
            </a:r>
          </a:p>
          <a:p>
            <a:r>
              <a:rPr lang="en-US" sz="1800" b="1" dirty="0"/>
              <a:t>Agentic AI Intelligence</a:t>
            </a:r>
            <a:r>
              <a:rPr lang="en-US" sz="1800" dirty="0"/>
              <a:t> – Uses autonomous AI decision-making to analyze user requirements and suggest suitable startup opportunities. </a:t>
            </a:r>
          </a:p>
          <a:p>
            <a:r>
              <a:rPr lang="en-US" sz="1800" b="1" dirty="0"/>
              <a:t>Market Trend Analysis</a:t>
            </a:r>
            <a:r>
              <a:rPr lang="en-US" sz="1800" dirty="0"/>
              <a:t> – Studies current and future business trends to provide innovative and profitable business suggestions. </a:t>
            </a:r>
          </a:p>
          <a:p>
            <a:r>
              <a:rPr lang="en-US" sz="1800" b="1" dirty="0"/>
              <a:t>Personalized Entrepreneur Support</a:t>
            </a:r>
            <a:r>
              <a:rPr lang="en-US" sz="1800" dirty="0"/>
              <a:t> – Tailors recommendations according to user goals, experience level, and preferred business category. </a:t>
            </a:r>
          </a:p>
          <a:p>
            <a:r>
              <a:rPr lang="en-US" sz="1800" b="1" dirty="0"/>
              <a:t>Startup Planning Assistance</a:t>
            </a:r>
            <a:r>
              <a:rPr lang="en-US" sz="1800" dirty="0"/>
              <a:t> – Provides additional insights such as startup cost, expected profit, risk level, and marketing strategies. </a:t>
            </a:r>
          </a:p>
          <a:p>
            <a:r>
              <a:rPr lang="en-US" sz="1800" b="1" dirty="0"/>
              <a:t>Interactive AI Guidance</a:t>
            </a:r>
            <a:r>
              <a:rPr lang="en-US" sz="1800" dirty="0"/>
              <a:t> – Acts as a smart virtual business mentor that supports users in business planning and decision-making. </a:t>
            </a:r>
          </a:p>
          <a:p>
            <a:r>
              <a:rPr lang="en-US" sz="1800" b="1" dirty="0"/>
              <a:t>Time-Saving and Automated</a:t>
            </a:r>
            <a:r>
              <a:rPr lang="en-US" sz="1800" dirty="0"/>
              <a:t> – Reduces manual research and helps users quickly identify suitable business opportunities.</a:t>
            </a:r>
          </a:p>
          <a:p>
            <a:endParaRPr lang="en-US" sz="1800" dirty="0"/>
          </a:p>
          <a:p>
            <a:r>
              <a:rPr lang="en-US" sz="1800" dirty="0"/>
              <a:t>This makes the solution a smart, adaptive, and AI-driven business advisor rather than just a basic business idea suggestion tool.</a:t>
            </a:r>
          </a:p>
          <a:p>
            <a:endParaRPr lang="en-US" sz="1800" dirty="0"/>
          </a:p>
        </p:txBody>
      </p:sp>
    </p:spTree>
    <p:extLst>
      <p:ext uri="{BB962C8B-B14F-4D97-AF65-F5344CB8AC3E}">
        <p14:creationId xmlns:p14="http://schemas.microsoft.com/office/powerpoint/2010/main" val="9179641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dirty="0">
                <a:latin typeface="Times New Roman"/>
                <a:ea typeface="Times New Roman"/>
                <a:cs typeface="Times New Roman"/>
                <a:sym typeface="Times New Roman"/>
              </a:rPr>
              <a:t>https://github.com/shashankjacknalli502-crypto</a:t>
            </a:r>
            <a:endParaRPr lang="en-US"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82879"/>
            <a:ext cx="9214580" cy="4277001"/>
          </a:xfrm>
          <a:prstGeom prst="rect">
            <a:avLst/>
          </a:prstGeom>
          <a:noFill/>
          <a:ln>
            <a:noFill/>
          </a:ln>
        </p:spPr>
        <p:txBody>
          <a:bodyPr spcFirstLastPara="1" wrap="square" lIns="0" tIns="0" rIns="0" bIns="0" anchor="t" anchorCtr="0">
            <a:noAutofit/>
          </a:bodyPr>
          <a:lstStyle/>
          <a:p>
            <a:r>
              <a:rPr lang="en-US" sz="2000" b="1" dirty="0"/>
              <a:t>1. Real-Time Market Trend Integration –</a:t>
            </a:r>
          </a:p>
          <a:p>
            <a:r>
              <a:rPr lang="en-US" sz="2000" dirty="0"/>
              <a:t>The system can be integrated with real-time market analysis tools and online business trend platforms to collect updated information about customer demands, emerging industries, and profitable startup opportunities. This will enable the Smart Business Idea Generator Agent to provide more accurate, innovative, and future-oriented business recommendations based on current market conditions and business growth patterns.</a:t>
            </a:r>
          </a:p>
          <a:p>
            <a:endParaRPr lang="en-US" sz="2000" dirty="0"/>
          </a:p>
          <a:p>
            <a:r>
              <a:rPr lang="en-US" sz="2000" b="1" dirty="0"/>
              <a:t>2. AI-Powered Voice Assistant &amp; Multilingual Support –</a:t>
            </a:r>
          </a:p>
          <a:p>
            <a:r>
              <a:rPr lang="en-US" sz="2000" dirty="0"/>
              <a:t>Enhancing the system with a voice-enabled AI assistant and multilingual support will improve accessibility and user interaction. Users can communicate with the agent using voice commands and receive business suggestions in their preferred language, making the solution more user-friendly, inclusive, and suitable for people from different regions and linguistic backgrounds.</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lang="en-US" sz="1850" b="0" i="0" u="none" strike="noStrike" cap="none"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lang="en-US" sz="1850" b="0" i="0" u="none" strike="noStrike" cap="none"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1227</TotalTime>
  <Words>1264</Words>
  <Application>Microsoft Office PowerPoint</Application>
  <PresentationFormat>Widescreen</PresentationFormat>
  <Paragraphs>112</Paragraphs>
  <Slides>15</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SHASHANK JACKNALLI</cp:lastModifiedBy>
  <cp:revision>41</cp:revision>
  <dcterms:created xsi:type="dcterms:W3CDTF">2025-07-08T05:06:56Z</dcterms:created>
  <dcterms:modified xsi:type="dcterms:W3CDTF">2026-05-10T11:52:27Z</dcterms:modified>
</cp:coreProperties>
</file>